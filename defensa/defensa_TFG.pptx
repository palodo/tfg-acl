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9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93A"/>
                </a:solidFill>
                <a:latin typeface="Calibri"/>
              </a:rPr>
              <a:t>AUC medio de validación por plano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Sagital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ResNet50</c:v>
                  </c:pt>
                  <c:pt idx="1">
                    <c:v>ViT-Small</c:v>
                  </c:pt>
                  <c:pt idx="2">
                    <c:v>Swin-Tiny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0.943</c:v>
                </c:pt>
                <c:pt idx="1">
                  <c:v>0.962</c:v>
                </c:pt>
                <c:pt idx="2">
                  <c:v>0.922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Coronal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ResNet50</c:v>
                  </c:pt>
                  <c:pt idx="1">
                    <c:v>ViT-Small</c:v>
                  </c:pt>
                  <c:pt idx="2">
                    <c:v>Swin-Tiny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0.939</c:v>
                </c:pt>
                <c:pt idx="1">
                  <c:v>0.874</c:v>
                </c:pt>
                <c:pt idx="2">
                  <c:v>0.775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Axial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ResNet50</c:v>
                  </c:pt>
                  <c:pt idx="1">
                    <c:v>ViT-Small</c:v>
                  </c:pt>
                  <c:pt idx="2">
                    <c:v>Swin-Tiny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0.961</c:v>
                </c:pt>
                <c:pt idx="1">
                  <c:v>0.953</c:v>
                </c:pt>
                <c:pt idx="2">
                  <c:v>0.956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93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ResNet50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AUC</c:v>
                  </c:pt>
                  <c:pt idx="1">
                    <c:v>Sensib.</c:v>
                  </c:pt>
                  <c:pt idx="2">
                    <c:v>Especif.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0.954</c:v>
                </c:pt>
                <c:pt idx="1">
                  <c:v>0.884</c:v>
                </c:pt>
                <c:pt idx="2">
                  <c:v>0.847</c:v>
                </c:pt>
                <c:pt idx="3">
                  <c:v>0.738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ViT-Small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AUC</c:v>
                  </c:pt>
                  <c:pt idx="1">
                    <c:v>Sensib.</c:v>
                  </c:pt>
                  <c:pt idx="2">
                    <c:v>Especif.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0.943</c:v>
                </c:pt>
                <c:pt idx="1">
                  <c:v>0.884</c:v>
                </c:pt>
                <c:pt idx="2">
                  <c:v>0.861</c:v>
                </c:pt>
                <c:pt idx="3">
                  <c:v>0.753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Swin-Tiny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AUC</c:v>
                  </c:pt>
                  <c:pt idx="1">
                    <c:v>Sensib.</c:v>
                  </c:pt>
                  <c:pt idx="2">
                    <c:v>Especif.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0.954</c:v>
                </c:pt>
                <c:pt idx="1">
                  <c:v>0.907</c:v>
                </c:pt>
                <c:pt idx="2">
                  <c:v>0.84</c:v>
                </c:pt>
                <c:pt idx="3">
                  <c:v>0.743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29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4293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AUC de test  ·  familias Transformer (compacto vs. grande)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de test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ViT-Small
22M</c:v>
                  </c:pt>
                  <c:pt idx="1">
                    <c:v>ViT-Base
86M</c:v>
                  </c:pt>
                  <c:pt idx="2">
                    <c:v>Swin-Tiny
28M</c:v>
                  </c:pt>
                  <c:pt idx="3">
                    <c:v>Swin-Small
49M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0.943</c:v>
                </c:pt>
                <c:pt idx="1">
                  <c:v>0.936</c:v>
                </c:pt>
                <c:pt idx="2">
                  <c:v>0.954</c:v>
                </c:pt>
                <c:pt idx="3">
                  <c:v>0.5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5"/>
        </c:scaling>
        <c:delete val="0"/>
        <c:axPos val="l"/>
        <c:majorGridlines>
          <c:spPr>
            <a:ln w="6350" cap="flat">
              <a:solidFill>
                <a:srgbClr val="1E42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solidFill>
          <a:srgbClr val="0E2A3B"/>
        </a:solidFill>
        <a:ln>
          <a:noFill/>
        </a:ln>
        <a:effectLst/>
      </c:spPr>
    </c:plotArea>
    <c:plotVisOnly val="1"/>
    <c:dispBlanksAs val="span"/>
  </c:chart>
  <c:spPr>
    <a:solidFill>
      <a:srgbClr val="0E2A3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9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93A"/>
                </a:solidFill>
                <a:latin typeface="Calibri"/>
              </a:rPr>
              <a:t>Transferencia directa al dominio externo (sin reentrenar)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zero-shot (Croacia)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29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ResNet50</c:v>
                  </c:pt>
                  <c:pt idx="1">
                    <c:v>ViT-Small</c:v>
                  </c:pt>
                  <c:pt idx="2">
                    <c:v>Swin-Tiny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0.785</c:v>
                </c:pt>
                <c:pt idx="1">
                  <c:v>0.857</c:v>
                </c:pt>
                <c:pt idx="2">
                  <c:v>0.882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429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29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486400" cy="5486400"/>
          </a:xfrm>
          <a:prstGeom prst="ellipse">
            <a:avLst/>
          </a:prstGeom>
          <a:solidFill>
            <a:srgbClr val="13405A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4114800"/>
            <a:ext cx="5029200" cy="5029200"/>
          </a:xfrm>
          <a:prstGeom prst="ellipse">
            <a:avLst/>
          </a:prstGeom>
          <a:solidFill>
            <a:srgbClr val="12506A"/>
          </a:solidFill>
          <a:ln/>
        </p:spPr>
      </p:sp>
      <p:pic>
        <p:nvPicPr>
          <p:cNvPr id="4" name="Image 0" descr="img/etse_tit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011680" cy="345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GRADO  ·  GRADO EN CIENCIA DE DATOS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automática de rotura del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ligamento cruzado anterior en RM de rodilla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85800" y="40690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CNN, Vision Transformers y Swin Transformers a igualdad de pipeline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5212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López Domínguez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5577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Tutores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David Martín Guerrero   ·   Yolanda Vives Gilabert</a:t>
            </a:r>
            <a:endParaRPr lang="en-US" sz="1400" dirty="0"/>
          </a:p>
        </p:txBody>
      </p:sp>
      <p:pic>
        <p:nvPicPr>
          <p:cNvPr id="10" name="Image 1" descr="img/escudo_logo_UV_n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663440"/>
            <a:ext cx="1097280" cy="1426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CLÍNICO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reto: diagnosticar el LCA en resonancia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rotura del ligamento cruzado anterior es una de las lesiones de rodilla más frecuentes. Su lectura en RM exige experiencia y tiempo, y un falso negativo retrasa el tratamiento.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737360" cy="1554480"/>
          </a:xfrm>
          <a:prstGeom prst="roundRect">
            <a:avLst>
              <a:gd name="adj" fmla="val 5294"/>
            </a:avLst>
          </a:prstGeom>
          <a:solidFill>
            <a:srgbClr val="F2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429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prevalencia de rotura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estudios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3291840"/>
            <a:ext cx="1737360" cy="1554480"/>
          </a:xfrm>
          <a:prstGeom prst="roundRect">
            <a:avLst>
              <a:gd name="adj" fmla="val 5294"/>
            </a:avLst>
          </a:prstGeom>
          <a:solidFill>
            <a:srgbClr val="F2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3429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planos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23160" y="41605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sagital · coronal · axial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estudio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291840"/>
            <a:ext cx="1737360" cy="1554480"/>
          </a:xfrm>
          <a:prstGeom prst="roundRect">
            <a:avLst>
              <a:gd name="adj" fmla="val 5294"/>
            </a:avLst>
          </a:prstGeom>
          <a:solidFill>
            <a:srgbClr val="F2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0" y="3429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297680" y="41605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lectura experta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resonancia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91072" y="2084832"/>
            <a:ext cx="5614416" cy="1356841"/>
          </a:xfrm>
          <a:prstGeom prst="roundRect">
            <a:avLst>
              <a:gd name="adj" fmla="val 6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pic>
        <p:nvPicPr>
          <p:cNvPr id="16" name="Image 0" descr="img/mri_slices_sag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94560"/>
            <a:ext cx="5394960" cy="113738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0" y="3657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sagitales de un estudio real de RM de rodilla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arquitectura conviene, a igualdad de condiciones?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comparan tres familias representativas de visión por computador bajo el MISMO pipeline (mismo selector de cortes, misma cabeza de atención, mismo protocolo multi-semilla), para aislar el efecto de la arquitectura.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3429000"/>
            <a:ext cx="868680" cy="8686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4290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ResNet50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48646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convolucional residual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51755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 M parámetros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310896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3429000"/>
            <a:ext cx="868680" cy="8686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34290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ViT-Small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48646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de atención global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51755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 parámetros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310896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66760" y="3429000"/>
            <a:ext cx="868680" cy="8686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34290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6676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Swin-Tiny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66760" y="48646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jerárquico (ventanas)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51755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 M parámetros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dominios: interno y validación externa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MRNet  ·  Stanford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principal — entrenamiento, validación y 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1 250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383280" y="32004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totales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875 / 188 / 187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(por paciente)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383280" y="5029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prevalencia de rotura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0E2A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Croacia  ·  H. Rijeka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29400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externa — otro escáner y población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3063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917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86968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externos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29400" y="3977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690 / 227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869680" y="4114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rotura / con rotura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4892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869680" y="5029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adaptación (fine-tuning)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PROPUESTO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end-to-end multi-vista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76856" y="1856232"/>
            <a:ext cx="7635240" cy="4745736"/>
          </a:xfrm>
          <a:prstGeom prst="roundRect">
            <a:avLst>
              <a:gd name="adj" fmla="val 17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pic>
        <p:nvPicPr>
          <p:cNvPr id="6" name="Image 0" descr="img/pipeline_gen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584" y="1965960"/>
            <a:ext cx="7415784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ROBUSTEZ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multi-semilla (10 inicializaciones)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103120"/>
            <a:ext cx="4023360" cy="3566160"/>
          </a:xfrm>
          <a:prstGeom prst="roundRect">
            <a:avLst>
              <a:gd name="adj" fmla="val 2308"/>
            </a:avLst>
          </a:prstGeom>
          <a:solidFill>
            <a:srgbClr val="F2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5528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55280" y="274320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axial es el más estable en las 3 familias.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coronal concentra la variabilidad (peor en Swin-Tiny).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ejecución puede engañar: el multi-semilla es imprescindible.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TEST MRNET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hay un ganador absoluto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7040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1965960"/>
            <a:ext cx="38404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38160" y="2423160"/>
            <a:ext cx="292608" cy="29260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854964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AUC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49640" y="25877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ResNet50 · 0.954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909560" y="3383280"/>
            <a:ext cx="38404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138160" y="384048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8549640" y="3566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sensibilidad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49640" y="40050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Swin-Tiny · 0.907  (solo 4 FN)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909560" y="4800600"/>
            <a:ext cx="38404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38160" y="5257800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8549640" y="4983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equilibrado (F1, precisión, especif.)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549640" y="5422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ViT-Small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DISCRIMINACIÓN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 discriminativa: curvas ROC (test)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1810512"/>
            <a:ext cx="5340096" cy="4309755"/>
          </a:xfrm>
          <a:prstGeom prst="roundRect">
            <a:avLst>
              <a:gd name="adj" fmla="val 19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pic>
        <p:nvPicPr>
          <p:cNvPr id="6" name="Image 0" descr="img/SWIN_ROC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5120640" cy="40902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6126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multi-vista — Swin-Tiny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09360" y="20116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arquitecturas alcanzan un AUC de test en torno a 0.95: el sistema discrimina con fiabilidad la presencia de rotura.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09360" y="35661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955280" y="3611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test  ·  ResNet50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44348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0.943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955280" y="44805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test  ·  ViT-Small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09360" y="5303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955280" y="5349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test  ·  Swin-Tiny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CLAVE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parámetros no implica más rendimiento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7040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103120"/>
            <a:ext cx="3886200" cy="1783080"/>
          </a:xfrm>
          <a:prstGeom prst="roundRect">
            <a:avLst>
              <a:gd name="adj" fmla="val 4615"/>
            </a:avLst>
          </a:prstGeom>
          <a:solidFill>
            <a:srgbClr val="1340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9244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ViT-Small  &gt;  ViT-Base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92440" y="27889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Iguala/supera a un modelo 4× mayor (86M) con solo 22M parámetros.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63840" y="4069080"/>
            <a:ext cx="3886200" cy="1783080"/>
          </a:xfrm>
          <a:prstGeom prst="roundRect">
            <a:avLst>
              <a:gd name="adj" fmla="val 4615"/>
            </a:avLst>
          </a:prstGeom>
          <a:solidFill>
            <a:srgbClr val="3A1E2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92440" y="4251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Swin-Small  no converge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92440" y="47548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variante de 49M colapsa al azar bajo el mismo protocolo: más capacidad dificulta la optimización con datos limitados.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mira donde debe: mapas de saliencia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30352" y="1764792"/>
            <a:ext cx="7808976" cy="4980488"/>
          </a:xfrm>
          <a:prstGeom prst="roundRect">
            <a:avLst>
              <a:gd name="adj" fmla="val 16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pic>
        <p:nvPicPr>
          <p:cNvPr id="6" name="Image 0" descr="img/app_gradcam_pla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7589520" cy="4761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21945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4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/ atención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superpuestos sobre los cortes seleccionados de los tres planos.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03920" y="365760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activación se concentra en la región intercondílea, donde se localiza el LCA.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transparencia clínica a cada predicción.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GENERALIZACIÓN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externa: existe domain shift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2057400"/>
            <a:ext cx="4480560" cy="1828800"/>
          </a:xfrm>
          <a:prstGeom prst="roundRect">
            <a:avLst>
              <a:gd name="adj" fmla="val 4500"/>
            </a:avLst>
          </a:prstGeom>
          <a:solidFill>
            <a:srgbClr val="F2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Cae la sensibilidad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98080" y="274320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4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 escáner, población y protocolo: el AUC se mantiene razonable pero el punto operativo se degrada.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23760" y="4069080"/>
            <a:ext cx="4480560" cy="1874520"/>
          </a:xfrm>
          <a:prstGeom prst="roundRect">
            <a:avLst>
              <a:gd name="adj" fmla="val 4390"/>
            </a:avLst>
          </a:prstGeom>
          <a:solidFill>
            <a:srgbClr val="0E2A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0" y="4251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Adaptación (fine-tuning)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98080" y="47548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0.924</a:t>
            </a:r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498080" y="5486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test de Croacia tras adaptar el modelo al nuevo dominio.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Demostrador clínico interactivo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30352" y="1764792"/>
            <a:ext cx="5952744" cy="4791456"/>
          </a:xfrm>
          <a:prstGeom prst="roundRect">
            <a:avLst>
              <a:gd name="adj" fmla="val 17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pic>
        <p:nvPicPr>
          <p:cNvPr id="6" name="Image 0" descr="img/app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5733288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2011680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321040" y="230428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6"/>
          <p:cNvSpPr/>
          <p:nvPr/>
        </p:nvSpPr>
        <p:spPr>
          <a:xfrm>
            <a:off x="8778240" y="21214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DICOM real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778240" y="2468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un estudio comprimido y obtén el diagnóstico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38160" y="3063240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321040" y="335584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8778240" y="317296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Inferencia en vivo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778240" y="35204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cortes + ensamble multi-vista en segundos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38160" y="4114800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21040" y="440740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4"/>
          <p:cNvSpPr/>
          <p:nvPr/>
        </p:nvSpPr>
        <p:spPr>
          <a:xfrm>
            <a:off x="8778240" y="422452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Explicabilidad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778240" y="45720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calor por corte y plano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138160" y="5166360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A3B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21040" y="545896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8"/>
          <p:cNvSpPr/>
          <p:nvPr/>
        </p:nvSpPr>
        <p:spPr>
          <a:xfrm>
            <a:off x="8778240" y="52760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modelos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778240" y="5623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· ViT-Small · Swin-Tiny intercambiables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2011680"/>
            <a:ext cx="5029200" cy="5029200"/>
          </a:xfrm>
          <a:prstGeom prst="ellipse">
            <a:avLst/>
          </a:prstGeom>
          <a:solidFill>
            <a:srgbClr val="12506A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45920" y="198424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fiable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45920" y="2423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~0.95 en test con un pipeline end-to-end, sin segmentación manual.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45920" y="303580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arquitectura importa menos que el pipeline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45920" y="3474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familia gana en una métrica; ninguna domina en todas.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45920" y="408736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compacto gana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45920" y="45262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ViT-Small (22M) y Swin-Tiny (28M) igualan o superan a sus variantes grandes.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513892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Generalización con matices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45920" y="5577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real hacia Croacia; el fine-tuning lo mitiga.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749040"/>
            <a:ext cx="5943600" cy="5943600"/>
          </a:xfrm>
          <a:prstGeom prst="ellipse">
            <a:avLst/>
          </a:prstGeom>
          <a:solidFill>
            <a:srgbClr val="13405A"/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-2377440"/>
            <a:ext cx="5029200" cy="5029200"/>
          </a:xfrm>
          <a:prstGeom prst="ellipse">
            <a:avLst/>
          </a:prstGeom>
          <a:solidFill>
            <a:srgbClr val="1250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5394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López Domínguez   ·   Grado en Ciencia de Datos   ·   ETSE-UV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rotura del LCA en RM de rodilla</dc:title>
  <dc:subject>PptxGenJS Presentation</dc:subject>
  <dc:creator>Pablo López Domínguez</dc:creator>
  <cp:lastModifiedBy>Pablo López Domínguez</cp:lastModifiedBy>
  <cp:revision>1</cp:revision>
  <dcterms:created xsi:type="dcterms:W3CDTF">2026-06-18T09:59:54Z</dcterms:created>
  <dcterms:modified xsi:type="dcterms:W3CDTF">2026-06-18T09:59:54Z</dcterms:modified>
</cp:coreProperties>
</file>